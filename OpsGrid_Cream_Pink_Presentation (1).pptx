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F7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32520" y="685800"/>
            <a:ext cx="1325880" cy="1325880"/>
          </a:xfrm>
          <a:prstGeom prst="ellipse">
            <a:avLst/>
          </a:prstGeom>
          <a:solidFill>
            <a:srgbClr val="DC8EA4"/>
          </a:solidFill>
          <a:ln>
            <a:solidFill>
              <a:srgbClr val="DC8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1691640"/>
            <a:ext cx="1645920" cy="1645920"/>
          </a:xfrm>
          <a:prstGeom prst="ellipse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0" y="3154680"/>
            <a:ext cx="1554480" cy="1554480"/>
          </a:xfrm>
          <a:prstGeom prst="ellipse">
            <a:avLst/>
          </a:prstGeom>
          <a:solidFill>
            <a:srgbClr val="EBBECB"/>
          </a:solidFill>
          <a:ln>
            <a:solidFill>
              <a:srgbClr val="EBB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04120" y="4160520"/>
            <a:ext cx="1234440" cy="1234440"/>
          </a:xfrm>
          <a:prstGeom prst="ellipse">
            <a:avLst/>
          </a:prstGeom>
          <a:solidFill>
            <a:srgbClr val="BE6985"/>
          </a:solidFill>
          <a:ln>
            <a:solidFill>
              <a:srgbClr val="BE6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5029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BE6985"/>
                </a:solidFill>
                <a:latin typeface="Aptos"/>
              </a:defRPr>
            </a:pPr>
            <a:r>
              <a:t>DEVOPS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685800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4700" b="1" i="0">
                <a:solidFill>
                  <a:srgbClr val="3E2F36"/>
                </a:solidFill>
                <a:latin typeface="Aptos"/>
              </a:defRPr>
            </a:pPr>
            <a:r>
              <a:t>OpsGrid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31720"/>
            <a:ext cx="65379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BE6985"/>
                </a:solidFill>
                <a:latin typeface="Aptos"/>
              </a:defRPr>
            </a:pPr>
            <a:r>
              <a:t>Incident Response &amp;</a:t>
            </a:r>
          </a:p>
          <a:p>
            <a:pPr algn="l">
              <a:spcAft>
                <a:spcPts val="500"/>
              </a:spcAft>
              <a:defRPr sz="2400" b="1" i="0">
                <a:solidFill>
                  <a:srgbClr val="BE6985"/>
                </a:solidFill>
                <a:latin typeface="Aptos"/>
              </a:defRPr>
            </a:pPr>
            <a:r>
              <a:t>Service Health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3657600"/>
            <a:ext cx="713232" cy="50292"/>
          </a:xfrm>
          <a:prstGeom prst="rect">
            <a:avLst/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950208"/>
            <a:ext cx="635508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7E6C71"/>
                </a:solidFill>
                <a:latin typeface="Aptos"/>
              </a:defRPr>
            </a:pPr>
            <a:r>
              <a:t>Bringing incident workflows, delivery automation, and monitoring into one operational 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5010912"/>
            <a:ext cx="6355080" cy="91440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193792"/>
            <a:ext cx="27432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3E2F36"/>
                </a:solidFill>
                <a:latin typeface="Aptos"/>
              </a:defRPr>
            </a:pPr>
            <a:r>
              <a:t>ISHIKA SHARMA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559552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7E6C71"/>
                </a:solidFill>
                <a:latin typeface="Aptos"/>
              </a:defRPr>
            </a:pPr>
            <a:r>
              <a:t>Roll No. 10352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5559552"/>
            <a:ext cx="1828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7E6C71"/>
                </a:solidFill>
                <a:latin typeface="Aptos"/>
              </a:defRPr>
            </a:pPr>
            <a:r>
              <a:t>Batch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5897880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3E2F36"/>
                </a:solidFill>
                <a:latin typeface="Aptos"/>
              </a:defRPr>
            </a:pPr>
            <a:r>
              <a:t>INCIDENTS  •  DELIVERY  • 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E6C71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BE6985"/>
                </a:solidFill>
                <a:latin typeface="Aptos"/>
              </a:defRPr>
            </a:pPr>
            <a: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3E2F36"/>
                </a:solidFill>
                <a:latin typeface="Aptos"/>
              </a:defRPr>
            </a:pPr>
            <a:r>
              <a:t>When services fail, context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80160"/>
            <a:ext cx="10698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OpsGrid is designed around a practical need: make incidents and service health easier to inspect.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02920" cy="41148"/>
          </a:xfrm>
          <a:prstGeom prst="rect">
            <a:avLst/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E6C7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84831"/>
            <a:ext cx="3703320" cy="1828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3E2F36"/>
                </a:solidFill>
                <a:latin typeface="Aptos"/>
              </a:defRPr>
            </a:pPr>
            <a:r>
              <a:t>A response team</a:t>
            </a:r>
          </a:p>
          <a:p>
            <a:pPr algn="l">
              <a:spcAft>
                <a:spcPts val="500"/>
              </a:spcAft>
              <a:defRPr sz="2700" b="1" i="0">
                <a:solidFill>
                  <a:srgbClr val="3E2F36"/>
                </a:solidFill>
                <a:latin typeface="Aptos"/>
              </a:defRPr>
            </a:pPr>
            <a:r>
              <a:t>needs answers—not</a:t>
            </a:r>
          </a:p>
          <a:p>
            <a:pPr algn="l">
              <a:spcAft>
                <a:spcPts val="500"/>
              </a:spcAft>
              <a:defRPr sz="2700" b="1" i="0">
                <a:solidFill>
                  <a:srgbClr val="3E2F36"/>
                </a:solidFill>
                <a:latin typeface="Aptos"/>
              </a:defRPr>
            </a:pPr>
            <a:r>
              <a:t>another place to</a:t>
            </a:r>
          </a:p>
          <a:p>
            <a:pPr algn="l">
              <a:spcAft>
                <a:spcPts val="500"/>
              </a:spcAft>
              <a:defRPr sz="2700" b="1" i="0">
                <a:solidFill>
                  <a:srgbClr val="3E2F36"/>
                </a:solidFill>
                <a:latin typeface="Aptos"/>
              </a:defRPr>
            </a:pPr>
            <a:r>
              <a:t>lose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084831"/>
            <a:ext cx="2971800" cy="118872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64608" y="2240279"/>
            <a:ext cx="50292" cy="87782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8344" y="2249424"/>
            <a:ext cx="2514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3E2F36"/>
                </a:solidFill>
                <a:latin typeface="Aptos"/>
              </a:defRPr>
            </a:pPr>
            <a:r>
              <a:t>WHAT IS AFFECTED?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344" y="2606039"/>
            <a:ext cx="25146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Service health and incident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084831"/>
            <a:ext cx="2971800" cy="118872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56448" y="2240279"/>
            <a:ext cx="50292" cy="877824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2249424"/>
            <a:ext cx="2514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3E2F36"/>
                </a:solidFill>
                <a:latin typeface="Aptos"/>
              </a:defRPr>
            </a:pPr>
            <a:r>
              <a:t>HOW SEVERE IS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2606039"/>
            <a:ext cx="25146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A consistent severity model and lifecycle.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3547872"/>
            <a:ext cx="2971800" cy="118872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64608" y="3703320"/>
            <a:ext cx="50292" cy="87782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8344" y="3712463"/>
            <a:ext cx="2514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3E2F36"/>
                </a:solidFill>
                <a:latin typeface="Aptos"/>
              </a:defRPr>
            </a:pPr>
            <a:r>
              <a:t>WHAT IS HAPPENING?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8344" y="4069080"/>
            <a:ext cx="25146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Incident details and current state.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547872"/>
            <a:ext cx="2971800" cy="118872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56448" y="3703320"/>
            <a:ext cx="50292" cy="877824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3" y="3712463"/>
            <a:ext cx="2514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3E2F36"/>
                </a:solidFill>
                <a:latin typeface="Aptos"/>
              </a:defRPr>
            </a:pPr>
            <a:r>
              <a:t>IS IT HEALTHY?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4069080"/>
            <a:ext cx="25146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Health checks and operational metrics.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138928"/>
            <a:ext cx="10195560" cy="658368"/>
          </a:xfrm>
          <a:prstGeom prst="roundRect">
            <a:avLst>
              <a:gd name="adj" fmla="val 12000"/>
            </a:avLst>
          </a:prstGeom>
          <a:solidFill>
            <a:srgbClr val="3E2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330952"/>
            <a:ext cx="9784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FFDFA"/>
                </a:solidFill>
                <a:latin typeface="Aptos"/>
              </a:defRPr>
            </a:pPr>
            <a:r>
              <a:t>The project brings incident tracking, service health, and monitoring into a connected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BE6985"/>
                </a:solidFill>
                <a:latin typeface="Aptos"/>
              </a:defRPr>
            </a:pPr>
            <a:r>
              <a:t>02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3E2F36"/>
                </a:solidFill>
                <a:latin typeface="Aptos"/>
              </a:defRPr>
            </a:pPr>
            <a:r>
              <a:t>One platform for incidents and service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80160"/>
            <a:ext cx="10698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The application layer and supporting DevOps workflow are presented as connected parts of the project.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02920" cy="41148"/>
          </a:xfrm>
          <a:prstGeom prst="rect">
            <a:avLst/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E6C7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331720"/>
            <a:ext cx="1965960" cy="804672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BE6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414015"/>
            <a:ext cx="185623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79"/>
            <a:ext cx="181965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7E6C71"/>
                </a:solidFill>
                <a:latin typeface="Aptos"/>
              </a:defRPr>
            </a:pPr>
            <a:r>
              <a:t>Create and update incidents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331720"/>
            <a:ext cx="1965960" cy="804672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DC8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2414015"/>
            <a:ext cx="185623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697479"/>
            <a:ext cx="181965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7E6C71"/>
                </a:solidFill>
                <a:latin typeface="Aptos"/>
              </a:defRPr>
            </a:pPr>
            <a:r>
              <a:t>Health and readiness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33872" y="2331720"/>
            <a:ext cx="1965960" cy="804672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BE6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414015"/>
            <a:ext cx="185623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2697479"/>
            <a:ext cx="181965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7E6C71"/>
                </a:solidFill>
                <a:latin typeface="Aptos"/>
              </a:defRPr>
            </a:pPr>
            <a:r>
              <a:t>Request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75904" y="2331720"/>
            <a:ext cx="1965960" cy="804672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DC8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2414015"/>
            <a:ext cx="185623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697479"/>
            <a:ext cx="1819656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7E6C71"/>
                </a:solidFill>
                <a:latin typeface="Aptos"/>
              </a:defRPr>
            </a:pPr>
            <a:r>
              <a:t>Test and package changes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15768" y="2734056"/>
            <a:ext cx="576072" cy="0"/>
          </a:xfrm>
          <a:prstGeom prst="line">
            <a:avLst/>
          </a:prstGeom>
          <a:ln w="20320">
            <a:solidFill>
              <a:srgbClr val="BE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57800" y="2734056"/>
            <a:ext cx="576072" cy="0"/>
          </a:xfrm>
          <a:prstGeom prst="line">
            <a:avLst/>
          </a:prstGeom>
          <a:ln w="20320">
            <a:solidFill>
              <a:srgbClr val="BE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99831" y="2734056"/>
            <a:ext cx="576073" cy="0"/>
          </a:xfrm>
          <a:prstGeom prst="line">
            <a:avLst/>
          </a:prstGeom>
          <a:ln w="20320">
            <a:solidFill>
              <a:srgbClr val="BE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74720" y="3401568"/>
            <a:ext cx="5303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BE6985"/>
                </a:solidFill>
                <a:latin typeface="Aptos"/>
              </a:defRPr>
            </a:pPr>
            <a:r>
              <a:t>OPERATE  →  LEARN  →  IMPROVE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160520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" y="4315968"/>
            <a:ext cx="50292" cy="92354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" y="4325112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3E2F36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" y="4681728"/>
            <a:ext cx="288036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React interface + FastAPI REST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4160520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90288" y="4315968"/>
            <a:ext cx="50292" cy="923544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64024" y="4325112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3E2F36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4024" y="4681728"/>
            <a:ext cx="288036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Automated tests, builds, and image scanning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4160520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47888" y="4315968"/>
            <a:ext cx="50292" cy="92354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1624" y="4325112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3E2F36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1624" y="4681728"/>
            <a:ext cx="288036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Containers, Kubernetes/Helm, and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BE6985"/>
                </a:solidFill>
                <a:latin typeface="Aptos"/>
              </a:defRPr>
            </a:pPr>
            <a:r>
              <a:t>03 /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3E2F36"/>
                </a:solidFill>
                <a:latin typeface="Aptos"/>
              </a:defRPr>
            </a:pPr>
            <a:r>
              <a:t>Four capabilities, clearly separated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80160"/>
            <a:ext cx="10698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Feature descriptions follow the documented README and API endpoints.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02920" cy="41148"/>
          </a:xfrm>
          <a:prstGeom prst="rect">
            <a:avLst/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E6C7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57400"/>
            <a:ext cx="5074920" cy="141732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5256" y="2212848"/>
            <a:ext cx="50292" cy="110642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21992"/>
            <a:ext cx="4617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E2F36"/>
                </a:solidFill>
                <a:latin typeface="Aptos"/>
              </a:defRPr>
            </a:pPr>
            <a:r>
              <a:t>01  Incident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78608"/>
            <a:ext cx="4617720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Create, view, update, filter, and delete/archive incidents across LOW, MEDIUM, HIGH, and CRITICAL severity.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57400"/>
            <a:ext cx="5230368" cy="141732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27648" y="2212848"/>
            <a:ext cx="50292" cy="1106424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2221992"/>
            <a:ext cx="4773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E2F36"/>
                </a:solidFill>
                <a:latin typeface="Aptos"/>
              </a:defRPr>
            </a:pPr>
            <a:r>
              <a:t>02  Service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578608"/>
            <a:ext cx="4773168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View service information and status to support operational awareness.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767328"/>
            <a:ext cx="5074920" cy="141732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5256" y="3922776"/>
            <a:ext cx="50292" cy="1106424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931920"/>
            <a:ext cx="4617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E2F36"/>
                </a:solidFill>
                <a:latin typeface="Aptos"/>
              </a:defRPr>
            </a:pPr>
            <a:r>
              <a:t>03  Health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288536"/>
            <a:ext cx="4617720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`/health` checks application/database connectivity; healthchecks support startup ordering in Compose.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67328"/>
            <a:ext cx="5230368" cy="141732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27648" y="3922776"/>
            <a:ext cx="50292" cy="110642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1384" y="3931920"/>
            <a:ext cx="4773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E2F36"/>
                </a:solidFill>
                <a:latin typeface="Aptos"/>
              </a:defRPr>
            </a:pPr>
            <a:r>
              <a:t>04 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4288536"/>
            <a:ext cx="4773168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`/metrics` exposes request and latency-related metrics for Prometheus collection.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650992"/>
            <a:ext cx="1325880" cy="265176"/>
          </a:xfrm>
          <a:prstGeom prst="roundRect">
            <a:avLst>
              <a:gd name="adj" fmla="val 12000"/>
            </a:avLst>
          </a:prstGeom>
          <a:solidFill>
            <a:srgbClr val="F7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692140"/>
            <a:ext cx="127101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BE6985"/>
                </a:solidFill>
                <a:latin typeface="Aptos"/>
              </a:defRPr>
            </a:pPr>
            <a:r>
              <a:t>DOCUMENTED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687568"/>
            <a:ext cx="8503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No unverified performance or adoption claims are included.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BE6985"/>
                </a:solidFill>
                <a:latin typeface="Aptos"/>
              </a:defRPr>
            </a:pPr>
            <a:r>
              <a:t>04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3E2F36"/>
                </a:solidFill>
                <a:latin typeface="Aptos"/>
              </a:defRPr>
            </a:pPr>
            <a:r>
              <a:t>Two workflows connect the product to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80160"/>
            <a:ext cx="10698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The user-facing incident lifecycle and the automated change-validation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02920" cy="41148"/>
          </a:xfrm>
          <a:prstGeom prst="rect">
            <a:avLst/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E6C7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93392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BE6985"/>
                </a:solidFill>
                <a:latin typeface="Aptos"/>
              </a:defRPr>
            </a:pPr>
            <a:r>
              <a:t>A  /  INCIDENT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95728"/>
            <a:ext cx="1152144" cy="1078992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2496312"/>
            <a:ext cx="274320" cy="265176"/>
          </a:xfrm>
          <a:prstGeom prst="roundRect">
            <a:avLst>
              <a:gd name="adj" fmla="val 12000"/>
            </a:avLst>
          </a:prstGeom>
          <a:solidFill>
            <a:srgbClr val="F7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37460"/>
            <a:ext cx="21945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BE698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52928"/>
            <a:ext cx="9692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145536"/>
            <a:ext cx="96926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7E6C71"/>
                </a:solidFill>
                <a:latin typeface="Aptos"/>
              </a:defRPr>
            </a:pPr>
            <a:r>
              <a:t>POST incident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2926080"/>
            <a:ext cx="155448" cy="0"/>
          </a:xfrm>
          <a:prstGeom prst="line">
            <a:avLst/>
          </a:prstGeom>
          <a:ln w="20320">
            <a:solidFill>
              <a:srgbClr val="BE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93976" y="2395728"/>
            <a:ext cx="1152144" cy="1078992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85416" y="2496312"/>
            <a:ext cx="274320" cy="265176"/>
          </a:xfrm>
          <a:prstGeom prst="roundRect">
            <a:avLst>
              <a:gd name="adj" fmla="val 12000"/>
            </a:avLst>
          </a:prstGeom>
          <a:solidFill>
            <a:srgbClr val="F7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12848" y="2537460"/>
            <a:ext cx="21945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BE698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85416" y="2852928"/>
            <a:ext cx="9692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3145536"/>
            <a:ext cx="96926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7E6C71"/>
                </a:solidFill>
                <a:latin typeface="Aptos"/>
              </a:defRPr>
            </a:pPr>
            <a:r>
              <a:t>GET / incidents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46120" y="2926080"/>
            <a:ext cx="155448" cy="0"/>
          </a:xfrm>
          <a:prstGeom prst="line">
            <a:avLst/>
          </a:prstGeom>
          <a:ln w="20320">
            <a:solidFill>
              <a:srgbClr val="BE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38144" y="2395728"/>
            <a:ext cx="1152144" cy="1078992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29584" y="2496312"/>
            <a:ext cx="274320" cy="265176"/>
          </a:xfrm>
          <a:prstGeom prst="roundRect">
            <a:avLst>
              <a:gd name="adj" fmla="val 12000"/>
            </a:avLst>
          </a:prstGeom>
          <a:solidFill>
            <a:srgbClr val="F7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7015" y="2537460"/>
            <a:ext cx="21945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BE698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2852928"/>
            <a:ext cx="9692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3145536"/>
            <a:ext cx="96926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7E6C71"/>
                </a:solidFill>
                <a:latin typeface="Aptos"/>
              </a:defRPr>
            </a:pPr>
            <a:r>
              <a:t>PUT incident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90288" y="2926080"/>
            <a:ext cx="155448" cy="0"/>
          </a:xfrm>
          <a:prstGeom prst="line">
            <a:avLst/>
          </a:prstGeom>
          <a:ln w="20320">
            <a:solidFill>
              <a:srgbClr val="BE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82312" y="2395728"/>
            <a:ext cx="1152144" cy="1078992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73752" y="2496312"/>
            <a:ext cx="274320" cy="265176"/>
          </a:xfrm>
          <a:prstGeom prst="roundRect">
            <a:avLst>
              <a:gd name="adj" fmla="val 12000"/>
            </a:avLst>
          </a:prstGeom>
          <a:solidFill>
            <a:srgbClr val="F7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01184" y="2537460"/>
            <a:ext cx="21945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BE698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2852928"/>
            <a:ext cx="9692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3752" y="3145536"/>
            <a:ext cx="96926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7E6C71"/>
                </a:solidFill>
                <a:latin typeface="Aptos"/>
              </a:defRPr>
            </a:pPr>
            <a:r>
              <a:t>GET /stats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977639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BE6985"/>
                </a:solidFill>
                <a:latin typeface="Aptos"/>
              </a:defRPr>
            </a:pPr>
            <a:r>
              <a:t>B  /  CI PIPELINE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407408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4562856"/>
            <a:ext cx="1645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Push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4846320"/>
            <a:ext cx="1645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7E6C71"/>
                </a:solidFill>
                <a:latin typeface="Aptos"/>
              </a:defRPr>
            </a:pPr>
            <a:r>
              <a:t>Trigger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578608" y="4828032"/>
            <a:ext cx="237743" cy="0"/>
          </a:xfrm>
          <a:prstGeom prst="line">
            <a:avLst/>
          </a:prstGeom>
          <a:ln w="20320">
            <a:solidFill>
              <a:srgbClr val="BE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926079" y="4407408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0" y="4562856"/>
            <a:ext cx="1645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Pytest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846320"/>
            <a:ext cx="1645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7E6C71"/>
                </a:solidFill>
                <a:latin typeface="Aptos"/>
              </a:defRPr>
            </a:pPr>
            <a:r>
              <a:t>Test API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754879" y="4828032"/>
            <a:ext cx="237744" cy="0"/>
          </a:xfrm>
          <a:prstGeom prst="line">
            <a:avLst/>
          </a:prstGeom>
          <a:ln w="20320">
            <a:solidFill>
              <a:srgbClr val="BE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102352" y="4407408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3792" y="4562856"/>
            <a:ext cx="1645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93792" y="4846320"/>
            <a:ext cx="1645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7E6C71"/>
                </a:solidFill>
                <a:latin typeface="Aptos"/>
              </a:defRPr>
            </a:pPr>
            <a:r>
              <a:t>Frontend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931152" y="4828032"/>
            <a:ext cx="237744" cy="0"/>
          </a:xfrm>
          <a:prstGeom prst="line">
            <a:avLst/>
          </a:prstGeom>
          <a:ln w="20320">
            <a:solidFill>
              <a:srgbClr val="BE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278624" y="4407408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0064" y="4562856"/>
            <a:ext cx="1645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Trivy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0064" y="4846320"/>
            <a:ext cx="1645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7E6C71"/>
                </a:solidFill>
                <a:latin typeface="Aptos"/>
              </a:defRPr>
            </a:pPr>
            <a:r>
              <a:t>Scan image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107424" y="4828032"/>
            <a:ext cx="237743" cy="0"/>
          </a:xfrm>
          <a:prstGeom prst="line">
            <a:avLst/>
          </a:prstGeom>
          <a:ln w="20320">
            <a:solidFill>
              <a:srgbClr val="BE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454896" y="4407408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3E2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46336" y="4562856"/>
            <a:ext cx="1645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DFA"/>
                </a:solidFill>
                <a:latin typeface="Aptos"/>
              </a:defRPr>
            </a:pPr>
            <a:r>
              <a:t>GHCR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46336" y="4846320"/>
            <a:ext cx="1645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EBBECB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" y="5715000"/>
            <a:ext cx="10424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0" i="1">
                <a:solidFill>
                  <a:srgbClr val="7E6C71"/>
                </a:solidFill>
                <a:latin typeface="Aptos"/>
              </a:defRPr>
            </a:pPr>
            <a:r>
              <a:t>Pipeline jobs and order should be confirmed against the current workflow file before a live demo.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31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EBBECB"/>
                </a:solidFill>
                <a:latin typeface="Aptos"/>
              </a:defRPr>
            </a:pPr>
            <a:r>
              <a:t>05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FFFDFA"/>
                </a:solidFill>
                <a:latin typeface="Aptos"/>
              </a:defRPr>
            </a:pPr>
            <a:r>
              <a:t>How the components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80160"/>
            <a:ext cx="10698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E0CFD6"/>
                </a:solidFill>
                <a:latin typeface="Aptos"/>
              </a:defRPr>
            </a:pPr>
            <a:r>
              <a:t>High-level view reconstructed from repository documentation and Compose configuration.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02920" cy="41148"/>
          </a:xfrm>
          <a:prstGeom prst="rect">
            <a:avLst/>
          </a:prstGeom>
          <a:solidFill>
            <a:srgbClr val="EBB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E0CFD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77440"/>
            <a:ext cx="1417320" cy="731520"/>
          </a:xfrm>
          <a:prstGeom prst="roundRect">
            <a:avLst>
              <a:gd name="adj" fmla="val 12000"/>
            </a:avLst>
          </a:prstGeom>
          <a:solidFill>
            <a:srgbClr val="684956"/>
          </a:solidFill>
          <a:ln>
            <a:solidFill>
              <a:srgbClr val="EBB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459736"/>
            <a:ext cx="13075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DFA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27101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E6D4DC"/>
                </a:solidFill>
                <a:latin typeface="Aptos"/>
              </a:defRPr>
            </a:pPr>
            <a:r>
              <a:t>Web 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2" y="2377440"/>
            <a:ext cx="1600200" cy="731520"/>
          </a:xfrm>
          <a:prstGeom prst="roundRect">
            <a:avLst>
              <a:gd name="adj" fmla="val 12000"/>
            </a:avLst>
          </a:prstGeom>
          <a:solidFill>
            <a:srgbClr val="684956"/>
          </a:solidFill>
          <a:ln>
            <a:solidFill>
              <a:srgbClr val="DC8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5456" y="2459736"/>
            <a:ext cx="149047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DFA"/>
                </a:solidFill>
                <a:latin typeface="Aptos"/>
              </a:defRPr>
            </a:pPr>
            <a:r>
              <a:t>Proxy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2743200"/>
            <a:ext cx="145389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E6D4DC"/>
                </a:solidFill>
                <a:latin typeface="Aptos"/>
              </a:defRPr>
            </a:pPr>
            <a:r>
              <a:t>Routes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938528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684956"/>
          </a:solidFill>
          <a:ln>
            <a:solidFill>
              <a:srgbClr val="EBB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020824"/>
            <a:ext cx="171907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DFA"/>
                </a:solidFill>
                <a:latin typeface="Aptos"/>
              </a:defRPr>
            </a:pPr>
            <a:r>
              <a:t>React + Nginx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04288"/>
            <a:ext cx="16824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E6D4D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06324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684956"/>
          </a:solidFill>
          <a:ln>
            <a:solidFill>
              <a:srgbClr val="DC8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3145536"/>
            <a:ext cx="171907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DFA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429000"/>
            <a:ext cx="16824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E6D4DC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3063240"/>
            <a:ext cx="1691640" cy="777240"/>
          </a:xfrm>
          <a:prstGeom prst="roundRect">
            <a:avLst>
              <a:gd name="adj" fmla="val 12000"/>
            </a:avLst>
          </a:prstGeom>
          <a:solidFill>
            <a:srgbClr val="684956"/>
          </a:solidFill>
          <a:ln>
            <a:solidFill>
              <a:srgbClr val="EBB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0024" y="3145536"/>
            <a:ext cx="15819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DFA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3429000"/>
            <a:ext cx="15453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E6D4DC"/>
                </a:solidFill>
                <a:latin typeface="Aptos"/>
              </a:defRPr>
            </a:pPr>
            <a:r>
              <a:t>Persistent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4370832"/>
            <a:ext cx="1691640" cy="731520"/>
          </a:xfrm>
          <a:prstGeom prst="roundRect">
            <a:avLst>
              <a:gd name="adj" fmla="val 12000"/>
            </a:avLst>
          </a:prstGeom>
          <a:solidFill>
            <a:srgbClr val="684956"/>
          </a:solidFill>
          <a:ln>
            <a:solidFill>
              <a:srgbClr val="DC8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0024" y="4453128"/>
            <a:ext cx="15819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DFA"/>
                </a:solidFill>
                <a:latin typeface="Aptos"/>
              </a:defRPr>
            </a:pPr>
            <a:r>
              <a:t>Prometheus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4736592"/>
            <a:ext cx="154533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E6D4DC"/>
                </a:solidFill>
                <a:latin typeface="Aptos"/>
              </a:defRPr>
            </a:pPr>
            <a:r>
              <a:t>Scrapes metrics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4370832"/>
            <a:ext cx="1691640" cy="731520"/>
          </a:xfrm>
          <a:prstGeom prst="roundRect">
            <a:avLst>
              <a:gd name="adj" fmla="val 12000"/>
            </a:avLst>
          </a:prstGeom>
          <a:solidFill>
            <a:srgbClr val="684956"/>
          </a:solidFill>
          <a:ln>
            <a:solidFill>
              <a:srgbClr val="EBBE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1744" y="4453128"/>
            <a:ext cx="15819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DFA"/>
                </a:solidFill>
                <a:latin typeface="Aptos"/>
              </a:defRPr>
            </a:pPr>
            <a:r>
              <a:t>Grafana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4736592"/>
            <a:ext cx="154533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E6D4DC"/>
                </a:solidFill>
                <a:latin typeface="Aptos"/>
              </a:defRPr>
            </a:pPr>
            <a:r>
              <a:t>Dashboards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984248" y="2743200"/>
            <a:ext cx="466344" cy="0"/>
          </a:xfrm>
          <a:prstGeom prst="line">
            <a:avLst/>
          </a:prstGeom>
          <a:ln w="20320">
            <a:solidFill>
              <a:srgbClr val="EBB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050791" y="2331720"/>
            <a:ext cx="475489" cy="320040"/>
          </a:xfrm>
          <a:prstGeom prst="line">
            <a:avLst/>
          </a:prstGeom>
          <a:ln w="20320">
            <a:solidFill>
              <a:srgbClr val="DC8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050791" y="2852928"/>
            <a:ext cx="475489" cy="576072"/>
          </a:xfrm>
          <a:prstGeom prst="line">
            <a:avLst/>
          </a:prstGeom>
          <a:ln w="20320">
            <a:solidFill>
              <a:srgbClr val="EBB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55080" y="3456432"/>
            <a:ext cx="640080" cy="0"/>
          </a:xfrm>
          <a:prstGeom prst="line">
            <a:avLst/>
          </a:prstGeom>
          <a:ln w="20320">
            <a:solidFill>
              <a:srgbClr val="DC8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55080" y="3584448"/>
            <a:ext cx="640080" cy="969264"/>
          </a:xfrm>
          <a:prstGeom prst="line">
            <a:avLst/>
          </a:prstGeom>
          <a:ln w="20320">
            <a:solidFill>
              <a:srgbClr val="EBB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686800" y="4736592"/>
            <a:ext cx="640080" cy="0"/>
          </a:xfrm>
          <a:prstGeom prst="line">
            <a:avLst/>
          </a:prstGeom>
          <a:ln w="20320">
            <a:solidFill>
              <a:srgbClr val="DC8E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13232" y="5715000"/>
            <a:ext cx="10698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E3D0D9"/>
                </a:solidFill>
                <a:latin typeface="Aptos"/>
              </a:defRPr>
            </a:pPr>
            <a:r>
              <a:t>Local development uses Docker Compose; Kubernetes/Helm and Terraform describe deployment infrastructure paths.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BE6985"/>
                </a:solidFill>
                <a:latin typeface="Aptos"/>
              </a:defRPr>
            </a:pPr>
            <a:r>
              <a:t>06 /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3E2F36"/>
                </a:solidFill>
                <a:latin typeface="Aptos"/>
              </a:defRPr>
            </a:pPr>
            <a:r>
              <a:t>A purpose for every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80160"/>
            <a:ext cx="10698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Technologies are grouped by the job they perform.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02920" cy="41148"/>
          </a:xfrm>
          <a:prstGeom prst="rect">
            <a:avLst/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E6C7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38528"/>
            <a:ext cx="1325880" cy="356616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0824"/>
            <a:ext cx="117957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DFA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61388"/>
            <a:ext cx="4160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React 18 • Vite •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970532"/>
            <a:ext cx="43891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User interface and frontend 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368296"/>
            <a:ext cx="8686800" cy="10972"/>
          </a:xfrm>
          <a:prstGeom prst="rect">
            <a:avLst/>
          </a:prstGeom>
          <a:solidFill>
            <a:srgbClr val="E8DA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2468880"/>
            <a:ext cx="1325880" cy="356616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51176"/>
            <a:ext cx="117957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DFA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491740"/>
            <a:ext cx="4160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FastAPI • Pydantic • Uvicorn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500884"/>
            <a:ext cx="43891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REST endpoints and request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2898648"/>
            <a:ext cx="8686800" cy="10972"/>
          </a:xfrm>
          <a:prstGeom prst="rect">
            <a:avLst/>
          </a:prstGeom>
          <a:solidFill>
            <a:srgbClr val="E8DA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2999232"/>
            <a:ext cx="1325880" cy="356616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81528"/>
            <a:ext cx="117957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DF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022092"/>
            <a:ext cx="4160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PostgreSQL • SQLAlchemy • Alembic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031236"/>
            <a:ext cx="43891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Persistence and schema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3429000"/>
            <a:ext cx="8686800" cy="10972"/>
          </a:xfrm>
          <a:prstGeom prst="rect">
            <a:avLst/>
          </a:prstGeom>
          <a:solidFill>
            <a:srgbClr val="E8DA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3529584"/>
            <a:ext cx="1325880" cy="356616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11879"/>
            <a:ext cx="117957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DFA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552444"/>
            <a:ext cx="4160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Pytest • FastAPI TestClient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561588"/>
            <a:ext cx="43891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Automated backend tests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3959352"/>
            <a:ext cx="8686800" cy="10972"/>
          </a:xfrm>
          <a:prstGeom prst="rect">
            <a:avLst/>
          </a:prstGeom>
          <a:solidFill>
            <a:srgbClr val="E8DA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4059935"/>
            <a:ext cx="1325880" cy="356616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42231"/>
            <a:ext cx="117957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DFA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4082796"/>
            <a:ext cx="4160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Docker • Compose • GitHub Actions • Trivy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091939"/>
            <a:ext cx="43891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Build, validate, scan, publish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4489703"/>
            <a:ext cx="8686800" cy="10972"/>
          </a:xfrm>
          <a:prstGeom prst="rect">
            <a:avLst/>
          </a:prstGeom>
          <a:solidFill>
            <a:srgbClr val="E8DA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9808" y="4590288"/>
            <a:ext cx="1325880" cy="356616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672583"/>
            <a:ext cx="117957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DFA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613148"/>
            <a:ext cx="4160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Kubernetes • Helm • Terraform • AWS EKS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622292"/>
            <a:ext cx="43891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Orchestration and infrastructure as 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31720" y="5020055"/>
            <a:ext cx="8686800" cy="10972"/>
          </a:xfrm>
          <a:prstGeom prst="rect">
            <a:avLst/>
          </a:prstGeom>
          <a:solidFill>
            <a:srgbClr val="E8DA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9808" y="5120640"/>
            <a:ext cx="1325880" cy="356616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202936"/>
            <a:ext cx="117957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DFA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143500"/>
            <a:ext cx="4160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3E2F36"/>
                </a:solidFill>
                <a:latin typeface="Aptos"/>
              </a:defRPr>
            </a:pPr>
            <a:r>
              <a:t>Prometheus • Grafana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52644"/>
            <a:ext cx="43891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Collect and visualize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BE6985"/>
                </a:solidFill>
                <a:latin typeface="Aptos"/>
              </a:defRPr>
            </a:pPr>
            <a:r>
              <a:t>07 / 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3E2F36"/>
                </a:solidFill>
                <a:latin typeface="Aptos"/>
              </a:defRPr>
            </a:pPr>
            <a:r>
              <a:t>Reliability starts with repeatable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80160"/>
            <a:ext cx="10698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A few implementation decisions are especially useful to explain during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02920" cy="41148"/>
          </a:xfrm>
          <a:prstGeom prst="rect">
            <a:avLst/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E6C7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5256" y="2167128"/>
            <a:ext cx="50292" cy="110642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76272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3E2F36"/>
                </a:solidFill>
                <a:latin typeface="Aptos"/>
              </a:defRPr>
            </a:pPr>
            <a:r>
              <a:t>Health-aware startup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32888"/>
            <a:ext cx="2926080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Compose waits for database health before starting dependent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01168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2167128"/>
            <a:ext cx="50292" cy="1106424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176272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3E2F36"/>
                </a:solidFill>
                <a:latin typeface="Aptos"/>
              </a:defRPr>
            </a:pPr>
            <a:r>
              <a:t>Isolated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532888"/>
            <a:ext cx="2926080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The documented test setup uses an in-memory SQLite database to avoid relying on local PostgreSQL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01168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0456" y="2167128"/>
            <a:ext cx="50292" cy="110642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176272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3E2F36"/>
                </a:solidFill>
                <a:latin typeface="Aptos"/>
              </a:defRPr>
            </a:pPr>
            <a:r>
              <a:t>Versioned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532888"/>
            <a:ext cx="2926080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CI tags container images using commit identifiers and publishes images to GHCR.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858768"/>
            <a:ext cx="6492240" cy="1389888"/>
          </a:xfrm>
          <a:prstGeom prst="roundRect">
            <a:avLst>
              <a:gd name="adj" fmla="val 12000"/>
            </a:avLst>
          </a:prstGeom>
          <a:solidFill>
            <a:srgbClr val="3E2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96512"/>
            <a:ext cx="598932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FFDFA"/>
                </a:solidFill>
                <a:latin typeface="Aptos Mono"/>
              </a:defRPr>
            </a:pPr>
            <a:r>
              <a:t>backend tests  ─┐</a:t>
            </a:r>
          </a:p>
          <a:p>
            <a:pPr algn="l">
              <a:spcAft>
                <a:spcPts val="500"/>
              </a:spcAft>
              <a:defRPr sz="1300" b="1" i="0">
                <a:solidFill>
                  <a:srgbClr val="FFFDFA"/>
                </a:solidFill>
                <a:latin typeface="Aptos Mono"/>
              </a:defRPr>
            </a:pPr>
            <a:r>
              <a:t>frontend build ─┼─&gt; image scan ─&gt; publish</a:t>
            </a:r>
          </a:p>
          <a:p>
            <a:pPr algn="l">
              <a:spcAft>
                <a:spcPts val="500"/>
              </a:spcAft>
              <a:defRPr sz="1300" b="1" i="0">
                <a:solidFill>
                  <a:srgbClr val="FFFDFA"/>
                </a:solidFill>
                <a:latin typeface="Aptos Mono"/>
              </a:defRPr>
            </a:pPr>
            <a:r>
              <a:t>commit SHA    ──┘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7808" y="3858768"/>
            <a:ext cx="3840480" cy="1389888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63256" y="4014215"/>
            <a:ext cx="50292" cy="1078992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36992" y="4023359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3E2F36"/>
                </a:solidFill>
                <a:latin typeface="Aptos"/>
              </a:defRPr>
            </a:pPr>
            <a:r>
              <a:t>Security caveat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4379976"/>
            <a:ext cx="3383280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The Trivy command currently uses `|| true`; findings are reported but do not automatically fail CI.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15000"/>
            <a:ext cx="10332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Potential improvement: define vulnerability thresholds and make the security check a deliberate policy gate.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BE6985"/>
                </a:solidFill>
                <a:latin typeface="Aptos"/>
              </a:defRPr>
            </a:pPr>
            <a:r>
              <a:t>08 /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3E2F36"/>
                </a:solidFill>
                <a:latin typeface="Aptos"/>
              </a:defRPr>
            </a:pPr>
            <a:r>
              <a:t>What to show in a live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80160"/>
            <a:ext cx="10698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Use the real application and repository evidence rather than a recreated mock screenshot.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02920" cy="41148"/>
          </a:xfrm>
          <a:prstGeom prst="rect">
            <a:avLst/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E6C7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03120"/>
            <a:ext cx="3429000" cy="224028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5256" y="2258568"/>
            <a:ext cx="50292" cy="192938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6771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E2F36"/>
                </a:solidFill>
                <a:latin typeface="Aptos"/>
              </a:defRPr>
            </a:pPr>
            <a:r>
              <a:t>01 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624327"/>
            <a:ext cx="2971800" cy="1618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E6C71"/>
                </a:solidFill>
                <a:latin typeface="Aptos"/>
              </a:defRPr>
            </a:pPr>
            <a:r>
              <a:t>Open the frontend and show the incident list, incident detail, and service status available in the running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103120"/>
            <a:ext cx="3429000" cy="224028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2258568"/>
            <a:ext cx="50292" cy="1929384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26771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E2F36"/>
                </a:solidFill>
                <a:latin typeface="Aptos"/>
              </a:defRPr>
            </a:pPr>
            <a:r>
              <a:t>02 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624327"/>
            <a:ext cx="2971800" cy="1618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E6C71"/>
                </a:solidFill>
                <a:latin typeface="Aptos"/>
              </a:defRPr>
            </a:pPr>
            <a:r>
              <a:t>Show a successful test run and the GitHub Actions workflow with its build, scan, and image-publishing jobs.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103120"/>
            <a:ext cx="3383280" cy="224028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0456" y="2258568"/>
            <a:ext cx="50292" cy="192938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267712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E2F36"/>
                </a:solidFill>
                <a:latin typeface="Aptos"/>
              </a:defRPr>
            </a:pPr>
            <a:r>
              <a:t>03  Observability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624327"/>
            <a:ext cx="2926080" cy="1618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7E6C71"/>
                </a:solidFill>
                <a:latin typeface="Aptos"/>
              </a:defRPr>
            </a:pPr>
            <a:r>
              <a:t>Open the Prometheus metrics endpoint and Grafana dashboard if configured and running.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00600"/>
            <a:ext cx="10561320" cy="713232"/>
          </a:xfrm>
          <a:prstGeom prst="roundRect">
            <a:avLst>
              <a:gd name="adj" fmla="val 12000"/>
            </a:avLst>
          </a:prstGeom>
          <a:solidFill>
            <a:srgbClr val="F7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10912"/>
            <a:ext cx="10104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3E2F36"/>
                </a:solidFill>
                <a:latin typeface="Aptos"/>
              </a:defRPr>
            </a:pPr>
            <a:r>
              <a:t>Demo evidence: README screenshots and the linked walkthrough video are the best sources for real visuals.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BE6985"/>
                </a:solidFill>
                <a:latin typeface="Aptos"/>
              </a:defRPr>
            </a:pPr>
            <a:r>
              <a:t>09 / ENGINEERING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3E2F36"/>
                </a:solidFill>
                <a:latin typeface="Aptos"/>
              </a:defRPr>
            </a:pPr>
            <a:r>
              <a:t>The strength is the connected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80160"/>
            <a:ext cx="10698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A grounded differentiator—not a claim of novel algorithms or unmeasured business impact.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02920" cy="41148"/>
          </a:xfrm>
          <a:prstGeom prst="rect">
            <a:avLst/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E6C7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48840"/>
            <a:ext cx="2542032" cy="169164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5256" y="2304288"/>
            <a:ext cx="50292" cy="138074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13432"/>
            <a:ext cx="2084831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3E2F36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670048"/>
            <a:ext cx="2084831" cy="1069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Incident API + service catalog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2148840"/>
            <a:ext cx="2542032" cy="169164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11879" y="2304288"/>
            <a:ext cx="50292" cy="1380744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2313432"/>
            <a:ext cx="2084831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3E2F36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5" y="2670048"/>
            <a:ext cx="2084831" cy="1069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Tests + frontend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2148840"/>
            <a:ext cx="2542032" cy="169164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18504" y="2304288"/>
            <a:ext cx="50292" cy="138074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13432"/>
            <a:ext cx="2084831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3E2F36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70048"/>
            <a:ext cx="2084831" cy="1069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Container vulnerability scan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2148840"/>
            <a:ext cx="2542032" cy="169164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25128" y="2304288"/>
            <a:ext cx="50292" cy="1380744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8863" y="2313432"/>
            <a:ext cx="2084831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3E2F36"/>
                </a:solidFill>
                <a:latin typeface="Aptos"/>
              </a:defRPr>
            </a:pPr>
            <a:r>
              <a:t>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3" y="2670048"/>
            <a:ext cx="2084831" cy="1069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Metrics + dashboards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434840"/>
            <a:ext cx="10561320" cy="914400"/>
          </a:xfrm>
          <a:prstGeom prst="roundRect">
            <a:avLst>
              <a:gd name="adj" fmla="val 12000"/>
            </a:avLst>
          </a:prstGeom>
          <a:solidFill>
            <a:srgbClr val="3E2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700016"/>
            <a:ext cx="10058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FFFDFA"/>
                </a:solidFill>
                <a:latin typeface="Aptos"/>
              </a:defRPr>
            </a:pPr>
            <a:r>
              <a:t>Define → Test → Scan → Package → Observe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15000"/>
            <a:ext cx="10241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These layers are documented in the repository; operational impact should be demonstrated, not assumed.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9144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BE6985"/>
                </a:solidFill>
                <a:latin typeface="Aptos"/>
              </a:defRPr>
            </a:pPr>
            <a:r>
              <a:t>10 /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972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3E2F36"/>
                </a:solidFill>
                <a:latin typeface="Aptos"/>
              </a:defRPr>
            </a:pPr>
            <a:r>
              <a:t>A realistic next-step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280160"/>
            <a:ext cx="10698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The following items are proposals, not implemented features.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02920" cy="41148"/>
          </a:xfrm>
          <a:prstGeom prst="rect">
            <a:avLst/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922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E6C7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57400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5256" y="2212848"/>
            <a:ext cx="50292" cy="128930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21992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3E2F36"/>
                </a:solidFill>
                <a:latin typeface="Aptos"/>
              </a:defRPr>
            </a:pPr>
            <a:r>
              <a:t>01  Enforce security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78608"/>
            <a:ext cx="2880360" cy="9784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Fail CI for agreed vulnerability severities; document exceptions.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057400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2212848"/>
            <a:ext cx="50292" cy="1289304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2221992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3E2F36"/>
                </a:solidFill>
                <a:latin typeface="Aptos"/>
              </a:defRPr>
            </a:pPr>
            <a:r>
              <a:t>02  Add actionable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2578608"/>
            <a:ext cx="2880360" cy="9784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Alert on latency, errors, and health-check failures.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057400"/>
            <a:ext cx="3337560" cy="160020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38744" y="2212848"/>
            <a:ext cx="50292" cy="128930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21992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3E2F36"/>
                </a:solidFill>
                <a:latin typeface="Aptos"/>
              </a:defRPr>
            </a:pPr>
            <a:r>
              <a:t>03  Improve auditability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78608"/>
            <a:ext cx="2880360" cy="9784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7E6C71"/>
                </a:solidFill>
                <a:latin typeface="Aptos"/>
              </a:defRPr>
            </a:pPr>
            <a:r>
              <a:t>Add role-based access, ownership, and incident event history.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02336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" y="4178808"/>
            <a:ext cx="50292" cy="832103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187952"/>
            <a:ext cx="4709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3E2F36"/>
                </a:solidFill>
                <a:latin typeface="Aptos"/>
              </a:defRPr>
            </a:pPr>
            <a:r>
              <a:t>04  Verify deployment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544568"/>
            <a:ext cx="4709160" cy="521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Add smoke tests and rollback validation after deployment.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402336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1656" y="4178808"/>
            <a:ext cx="50292" cy="832103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4187952"/>
            <a:ext cx="4709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3E2F36"/>
                </a:solidFill>
                <a:latin typeface="Aptos"/>
              </a:defRPr>
            </a:pPr>
            <a:r>
              <a:t>05  Define reliability targets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4544568"/>
            <a:ext cx="4709160" cy="521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Introduce SLOs and review latency, availability, and error budget.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596128"/>
            <a:ext cx="1097280" cy="265176"/>
          </a:xfrm>
          <a:prstGeom prst="roundRect">
            <a:avLst>
              <a:gd name="adj" fmla="val 12000"/>
            </a:avLst>
          </a:prstGeom>
          <a:solidFill>
            <a:srgbClr val="F7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637276"/>
            <a:ext cx="1042415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BE6985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641848"/>
            <a:ext cx="87782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7E6C71"/>
                </a:solidFill>
                <a:latin typeface="Aptos"/>
              </a:defRPr>
            </a:pPr>
            <a:r>
              <a:t>Prioritize changes by risk reduction and measurable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F7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58368"/>
            <a:ext cx="36576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BE6985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53312"/>
            <a:ext cx="676656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3000" b="1" i="0">
                <a:solidFill>
                  <a:srgbClr val="3E2F36"/>
                </a:solidFill>
                <a:latin typeface="Aptos"/>
              </a:defRPr>
            </a:pPr>
            <a:r>
              <a:t>OpsGrid connects</a:t>
            </a:r>
          </a:p>
          <a:p>
            <a:pPr algn="l">
              <a:spcAft>
                <a:spcPts val="500"/>
              </a:spcAft>
              <a:defRPr sz="3000" b="1" i="0">
                <a:solidFill>
                  <a:srgbClr val="3E2F36"/>
                </a:solidFill>
                <a:latin typeface="Aptos"/>
              </a:defRPr>
            </a:pPr>
            <a:r>
              <a:t>incident response to</a:t>
            </a:r>
          </a:p>
          <a:p>
            <a:pPr algn="l">
              <a:spcAft>
                <a:spcPts val="500"/>
              </a:spcAft>
              <a:defRPr sz="3000" b="1" i="0">
                <a:solidFill>
                  <a:srgbClr val="3E2F36"/>
                </a:solidFill>
                <a:latin typeface="Aptos"/>
              </a:defRPr>
            </a:pPr>
            <a:r>
              <a:t>DevOps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063240"/>
            <a:ext cx="612648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7E6C71"/>
                </a:solidFill>
                <a:latin typeface="Aptos"/>
              </a:defRPr>
            </a:pPr>
            <a:r>
              <a:t>A full-stack operational platform supported by automated validation, container delivery, infrastructure definitions, and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43400"/>
            <a:ext cx="6172200" cy="86868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solidFill>
              <a:srgbClr val="E8D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4553712"/>
            <a:ext cx="56235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BE6985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051560"/>
            <a:ext cx="3246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3E2F36"/>
                </a:solidFill>
                <a:latin typeface="Aptos"/>
              </a:defRPr>
            </a:pPr>
            <a:r>
              <a:t>THE CORE IDEA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7072" y="1874519"/>
            <a:ext cx="3063240" cy="512064"/>
          </a:xfrm>
          <a:prstGeom prst="roundRect">
            <a:avLst>
              <a:gd name="adj" fmla="val 12000"/>
            </a:avLst>
          </a:prstGeom>
          <a:solidFill>
            <a:srgbClr val="BE6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2020824"/>
            <a:ext cx="2788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DFA"/>
                </a:solidFill>
                <a:latin typeface="Aptos"/>
              </a:defRPr>
            </a:pPr>
            <a:r>
              <a:t>INCIDENTS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7072" y="2624327"/>
            <a:ext cx="3063240" cy="512064"/>
          </a:xfrm>
          <a:prstGeom prst="roundRect">
            <a:avLst>
              <a:gd name="adj" fmla="val 12000"/>
            </a:avLst>
          </a:prstGeom>
          <a:solidFill>
            <a:srgbClr val="3E2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2770632"/>
            <a:ext cx="2788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DFA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7072" y="3374135"/>
            <a:ext cx="3063240" cy="512064"/>
          </a:xfrm>
          <a:prstGeom prst="roundRect">
            <a:avLst>
              <a:gd name="adj" fmla="val 12000"/>
            </a:avLst>
          </a:prstGeom>
          <a:solidFill>
            <a:srgbClr val="DC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3520439"/>
            <a:ext cx="2788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DFA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7072" y="4123944"/>
            <a:ext cx="3063240" cy="512064"/>
          </a:xfrm>
          <a:prstGeom prst="roundRect">
            <a:avLst>
              <a:gd name="adj" fmla="val 12000"/>
            </a:avLst>
          </a:prstGeom>
          <a:solidFill>
            <a:srgbClr val="684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4270248"/>
            <a:ext cx="2788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DFA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5394960"/>
            <a:ext cx="30632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3E2F36"/>
                </a:solidFill>
                <a:latin typeface="Aptos"/>
              </a:defRPr>
            </a:pPr>
            <a:r>
              <a:t>ISHIKA SHARMA  •  BATCH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7E6C71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OpsGrid — Cream &amp; Pink Project Presentation</dc:title>
  <dc:subject>DevOps project presentation</dc:subject>
  <dc:creator>Ishika Sharma</dc:creator>
  <cp:keywords>OpsGrid, DevOps, incident response, CI/CD, monitoring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